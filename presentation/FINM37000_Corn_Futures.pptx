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14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094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built an end-to-end pipeline to test whether a simple intraday rule can make money in corn, using real CME trade data from Databento - and we got a clear, honest answer. (~15s)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it as a real research question, not just building a thing. Real ZCH7, Oct 9 2026: note the sharp midday price drop and how the order-flow imbalance panel spikes strongly negative at exactly that move - aggressive selling, captured by our bars. (~35s)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'what it achieved' slide. Stress reusability and that every stage validates its inputs. (~45s)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rigor slide. The random-walk check proves the evaluation isn't fooling itself - it only finds an edge when one exists. (~50s)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two lines are the whole story. Without costs the rule barely breaks even - no real edge. Add one realistic tick of slippage per fill and it bleeds to minus $62.7k. So the loss is a cost result, not a direction result. (~45s)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insight the rubric asks for. Two independent pieces of evidence that there's no edge: the gross backtest is basically flat, and the predictor's out-of-sample R-squared is negative - it does not beat a zero forecast. So the loss is purely trading cost. (~45s)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maturity: we know the limits and have a concrete roadmap. Then: happy to take questions. Q&amp;A prep - Would lower costs help? loss scales with turnover x slippage. Look-ahead free? yes, purged split + next-open fills, tested. Why trust -$62k? real ZCH7, standard ZC tick economics, predictor shows no edge on a random walk. (~40s)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45A6E"/>
                </a:solidFill>
              </a:rPr>
              <a:t>Do tradable intraday patterns exist in corn futures?</a:t>
            </a:r>
          </a:p>
          <a:p>
            <a:r>
              <a:rPr sz="2000">
                <a:solidFill>
                  <a:srgbClr val="555555"/>
                </a:solidFill>
              </a:rPr>
              <a:t>A cost-aware research pipeline for CBOT corn (ZC) on Databento CME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22222"/>
                </a:solidFill>
              </a:rPr>
              <a:t>Group 14 · Jean Mauratille, Alex Gatti Roaf, Hanwen Xu, Dipesh Ghimire · FINM 37000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5A6E"/>
                </a:solidFill>
              </a:rPr>
              <a:t>The question &amp;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 Goal: test for an exploitable intraday pattern in March-2027 corn (ZCH7)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 Data: trade-level ZCH7 from Databento (CME Globex, GLBX.MDP3), ~6 months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555555"/>
                </a:solidFill>
              </a:rPr>
              <a:t>–  Trade-level detail includes the aggressor side -&gt; order-flow imbalance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 Approach: build the tools ourselves, tested, then let the data decide</a:t>
            </a:r>
          </a:p>
        </p:txBody>
      </p:sp>
      <p:pic>
        <p:nvPicPr>
          <p:cNvPr id="4" name="Picture 3" descr="analysis_bars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436" y="3383280"/>
            <a:ext cx="6576646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145A6E"/>
                </a:solidFill>
              </a:rPr>
              <a:t>T</a:t>
            </a:r>
            <a:r>
              <a:rPr sz="3000" b="1" dirty="0">
                <a:solidFill>
                  <a:srgbClr val="145A6E"/>
                </a:solidFill>
              </a:rPr>
              <a:t>ested pipeline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11338560" cy="27247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 Event-time 5-min bars, labeled at bar end; OHLCV + order flow aligned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 Features: moving averages, Bollinger bands, returns, realized vol, order flow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 Every stage is a tested module - full suite runs on synthetic data, no API key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5A6E"/>
                </a:solidFill>
              </a:rPr>
              <a:t>Doing it honestly: no look-ahead, real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No look-ahead: features use only data through the bar close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</a:rPr>
              <a:t>–  Targets are purged from training so labels cannot leak into the test period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Realistic execution: signals fill at the NEXT bar's open (one-bar delay)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</a:rPr>
              <a:t>–  Slippage (quarter-cent = $12.50/tick) and per-contract fees are charged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Correct contract spec: 5,000 bu, cents/bushel -&gt; P&amp;L in real dollars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Sanity check: on a random walk, our predictor correctly shows NO edge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45A6E"/>
                </a:solidFill>
              </a:rPr>
              <a:t>Headline result: costs sink </a:t>
            </a:r>
            <a:r>
              <a:rPr lang="en-US" sz="3000" b="1" dirty="0">
                <a:solidFill>
                  <a:srgbClr val="145A6E"/>
                </a:solidFill>
              </a:rPr>
              <a:t>the edge</a:t>
            </a:r>
            <a:endParaRPr sz="3000" b="1" dirty="0">
              <a:solidFill>
                <a:srgbClr val="145A6E"/>
              </a:solidFill>
            </a:endParaRPr>
          </a:p>
        </p:txBody>
      </p:sp>
      <p:pic>
        <p:nvPicPr>
          <p:cNvPr id="3" name="Picture 2" descr="ZCH7_gross_vs_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876" y="1371600"/>
            <a:ext cx="9775767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943600"/>
            <a:ext cx="830554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45A6E"/>
                </a:solidFill>
              </a:rPr>
              <a:t>6 months of ZCH7: gross P&amp;L </a:t>
            </a:r>
            <a:r>
              <a:rPr lang="en-US" sz="1500" b="1" dirty="0">
                <a:solidFill>
                  <a:srgbClr val="145A6E"/>
                </a:solidFill>
              </a:rPr>
              <a:t>w/no costs: </a:t>
            </a:r>
            <a:r>
              <a:rPr sz="1500" b="1" dirty="0">
                <a:solidFill>
                  <a:srgbClr val="145A6E"/>
                </a:solidFill>
              </a:rPr>
              <a:t>+$3,850</a:t>
            </a:r>
            <a:r>
              <a:rPr lang="en-US" sz="1500" b="1" dirty="0">
                <a:solidFill>
                  <a:srgbClr val="145A6E"/>
                </a:solidFill>
              </a:rPr>
              <a:t>, </a:t>
            </a:r>
            <a:r>
              <a:rPr sz="1500" b="1" dirty="0">
                <a:solidFill>
                  <a:srgbClr val="145A6E"/>
                </a:solidFill>
              </a:rPr>
              <a:t>one tick of slippage per fill turns it into -$62,662 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5A6E"/>
                </a:solidFill>
              </a:rPr>
              <a:t>Why it loses: the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dirty="0">
                <a:solidFill>
                  <a:srgbClr val="222222"/>
                </a:solidFill>
              </a:rPr>
              <a:t>•  The loss is a COST result, not a forecasting result</a:t>
            </a:r>
          </a:p>
          <a:p>
            <a:pPr lvl="1">
              <a:spcAft>
                <a:spcPts val="800"/>
              </a:spcAft>
            </a:pPr>
            <a:r>
              <a:rPr sz="1700" dirty="0">
                <a:solidFill>
                  <a:srgbClr val="555555"/>
                </a:solidFill>
              </a:rPr>
              <a:t>–  Gross P&amp;L ≈ +$3,850 over 6 months — the raw rule has essentially no edge</a:t>
            </a:r>
          </a:p>
          <a:p>
            <a:pPr lvl="1">
              <a:spcAft>
                <a:spcPts val="800"/>
              </a:spcAft>
            </a:pPr>
            <a:r>
              <a:rPr sz="1700" dirty="0">
                <a:solidFill>
                  <a:srgbClr val="555555"/>
                </a:solidFill>
              </a:rPr>
              <a:t>–  The predictor agrees: out-of-sample R² = −0.018, hit rate 0.51 (no signal)</a:t>
            </a:r>
          </a:p>
          <a:p>
            <a:pPr>
              <a:spcAft>
                <a:spcPts val="800"/>
              </a:spcAft>
            </a:pPr>
            <a:r>
              <a:rPr sz="1900" dirty="0">
                <a:solidFill>
                  <a:srgbClr val="222222"/>
                </a:solidFill>
              </a:rPr>
              <a:t>•  The rule reverses constantly; at a 5-min horizon corn behaves like a random walk</a:t>
            </a:r>
          </a:p>
          <a:p>
            <a:pPr>
              <a:spcAft>
                <a:spcPts val="800"/>
              </a:spcAft>
            </a:pPr>
            <a:r>
              <a:rPr sz="1900" dirty="0">
                <a:solidFill>
                  <a:srgbClr val="222222"/>
                </a:solidFill>
              </a:rPr>
              <a:t>•  Each reversal pays the ¼¢ tick ($12.50) — nothing to cover it</a:t>
            </a:r>
          </a:p>
          <a:p>
            <a:pPr>
              <a:spcAft>
                <a:spcPts val="800"/>
              </a:spcAft>
            </a:pPr>
            <a:r>
              <a:rPr sz="1900" dirty="0">
                <a:solidFill>
                  <a:srgbClr val="222222"/>
                </a:solidFill>
              </a:rPr>
              <a:t>•  Takeaway: liquid intraday corn looks efficient at this horizon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5A6E"/>
                </a:solidFill>
              </a:rPr>
              <a:t>Challenges, limits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Challenges: bar-timestamp alignment (start vs end), avoiding look-ahead,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</a:rPr>
              <a:t>–  matching dollar units to the contract spec, and a multi-person Git workflow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USDA overlay: actuals &amp; release times are obtainable, but pre-report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</a:rPr>
              <a:t>–  expectations have no free source -&gt; documented as feasibility, deferred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Next: entry-at-band / exit-at-middle variants, longer horizons,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</a:rPr>
              <a:t>–  order-flow features; source an expectations series to finish the USDA study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5A6E"/>
                </a:solidFill>
              </a:rPr>
              <a:t>Robustness: the loss holds in- and out-of-sample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737360"/>
          <a:ext cx="10149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51660"/>
                <a:gridCol w="1851660"/>
                <a:gridCol w="1851660"/>
                <a:gridCol w="185166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145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Gross</a:t>
                      </a:r>
                    </a:p>
                  </a:txBody>
                  <a:tcPr>
                    <a:solidFill>
                      <a:srgbClr val="145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Slippage cost</a:t>
                      </a:r>
                    </a:p>
                  </a:txBody>
                  <a:tcPr>
                    <a:solidFill>
                      <a:srgbClr val="145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Net</a:t>
                      </a:r>
                    </a:p>
                  </a:txBody>
                  <a:tcPr>
                    <a:solidFill>
                      <a:srgbClr val="145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Contracts</a:t>
                      </a:r>
                    </a:p>
                  </a:txBody>
                  <a:tcPr>
                    <a:solidFill>
                      <a:srgbClr val="145A6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</a:rPr>
                        <a:t>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</a:rPr>
                        <a:t>+$2,075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</a:rPr>
                        <a:t>$46,762.50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</a:rPr>
                        <a:t>-$44,687.50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</a:rPr>
                        <a:t>3,741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</a:rPr>
                        <a:t>Held-out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</a:rPr>
                        <a:t>+$1,775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</a:rPr>
                        <a:t>$19,750.00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</a:rPr>
                        <a:t>-$17,975.00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</a:rPr>
                        <a:t>1,580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</a:rPr>
                        <a:t>Full period</a:t>
                      </a:r>
                    </a:p>
                  </a:txBody>
                  <a:tcPr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</a:rPr>
                        <a:t>+$3,850</a:t>
                      </a:r>
                    </a:p>
                  </a:txBody>
                  <a:tcPr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</a:rPr>
                        <a:t>$66,512.50</a:t>
                      </a:r>
                    </a:p>
                  </a:txBody>
                  <a:tcPr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</a:rPr>
                        <a:t>-$62,662.50</a:t>
                      </a:r>
                    </a:p>
                  </a:txBody>
                  <a:tcPr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</a:rPr>
                        <a:t>5,321</a:t>
                      </a:r>
                    </a:p>
                  </a:txBody>
                  <a:tcPr>
                    <a:solidFill>
                      <a:srgbClr val="EA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5840" y="448056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Gross P&amp;L is roughly flat in BOTH the development and the held-out period - no edge in either.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Slippage alone drives the loss; the result is not an artifact of one sample.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Development + held-out = full on every column, so the split is a clean chronological partition.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790</Words>
  <Application>Microsoft Macintosh PowerPoint</Application>
  <PresentationFormat>Widescreen</PresentationFormat>
  <Paragraphs>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 Mauratille</cp:lastModifiedBy>
  <cp:revision>3</cp:revision>
  <dcterms:created xsi:type="dcterms:W3CDTF">2013-01-27T09:14:16Z</dcterms:created>
  <dcterms:modified xsi:type="dcterms:W3CDTF">2026-10-27T22:29:32Z</dcterms:modified>
  <cp:category/>
</cp:coreProperties>
</file>